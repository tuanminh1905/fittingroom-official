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uli Bold" charset="1" panose="00000800000000000000"/>
      <p:regular r:id="rId17"/>
    </p:embeddedFont>
    <p:embeddedFont>
      <p:font typeface="Muli Ultra-Bold" charset="1" panose="00000900000000000000"/>
      <p:regular r:id="rId18"/>
    </p:embeddedFont>
    <p:embeddedFont>
      <p:font typeface="Muli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6841" y="-144637"/>
            <a:ext cx="10786223" cy="10576274"/>
            <a:chOff x="0" y="0"/>
            <a:chExt cx="14381630" cy="14101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042815"/>
              <a:ext cx="12363028" cy="7058883"/>
            </a:xfrm>
            <a:custGeom>
              <a:avLst/>
              <a:gdLst/>
              <a:ahLst/>
              <a:cxnLst/>
              <a:rect r="r" b="b" t="t" l="l"/>
              <a:pathLst>
                <a:path h="7058883" w="12363028">
                  <a:moveTo>
                    <a:pt x="0" y="0"/>
                  </a:moveTo>
                  <a:lnTo>
                    <a:pt x="12363028" y="0"/>
                  </a:lnTo>
                  <a:lnTo>
                    <a:pt x="12363028" y="7058883"/>
                  </a:lnTo>
                  <a:lnTo>
                    <a:pt x="0" y="705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1576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18602" y="0"/>
              <a:ext cx="12363028" cy="7058883"/>
            </a:xfrm>
            <a:custGeom>
              <a:avLst/>
              <a:gdLst/>
              <a:ahLst/>
              <a:cxnLst/>
              <a:rect r="r" b="b" t="t" l="l"/>
              <a:pathLst>
                <a:path h="7058883" w="12363028">
                  <a:moveTo>
                    <a:pt x="0" y="0"/>
                  </a:moveTo>
                  <a:lnTo>
                    <a:pt x="12363028" y="0"/>
                  </a:lnTo>
                  <a:lnTo>
                    <a:pt x="12363028" y="7058883"/>
                  </a:lnTo>
                  <a:lnTo>
                    <a:pt x="0" y="7058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1576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401127" y="8681862"/>
            <a:ext cx="15741700" cy="3210276"/>
            <a:chOff x="0" y="0"/>
            <a:chExt cx="26342280" cy="537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3422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26342280">
                  <a:moveTo>
                    <a:pt x="2479161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24791611" y="5372100"/>
                  </a:lnTo>
                  <a:lnTo>
                    <a:pt x="26342280" y="2686050"/>
                  </a:lnTo>
                  <a:lnTo>
                    <a:pt x="24791611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922455"/>
            <a:ext cx="13698117" cy="121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7"/>
              </a:lnSpc>
            </a:pPr>
            <a:r>
              <a:rPr lang="en-US" b="true" sz="3801" spc="114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TRƯỜNG ĐẠI HỌC CÔNG NGHỆ KỸ THUẬT TP.HCM</a:t>
            </a:r>
          </a:p>
          <a:p>
            <a:pPr algn="l">
              <a:lnSpc>
                <a:spcPts val="4827"/>
              </a:lnSpc>
            </a:pPr>
            <a:r>
              <a:rPr lang="en-US" b="true" sz="3801" spc="114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KHOA CÔNG NGHỆ THÔNG TIN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67521"/>
            <a:ext cx="1221933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spc="105" b="true">
                <a:solidFill>
                  <a:srgbClr val="A066CB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XÂY DỰNG WEBSITE KINH DOANH THỜI TRANG TÍCH HỢP PHÒNG THỬ ĐỒ 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69264"/>
            <a:ext cx="1221933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Sinh viên thực hiện:</a:t>
            </a:r>
          </a:p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Phạ</a:t>
            </a:r>
            <a:r>
              <a:rPr lang="en-US" sz="3000" spc="15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m Tuấn Minh (21110840) </a:t>
            </a:r>
          </a:p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Lê Quốc Văn (21110862)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541360"/>
            <a:ext cx="10211441" cy="1204281"/>
            <a:chOff x="0" y="0"/>
            <a:chExt cx="13615255" cy="160570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3615255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spc="14">
                  <a:solidFill>
                    <a:srgbClr val="000000"/>
                  </a:solidFill>
                  <a:latin typeface="Muli Light"/>
                  <a:ea typeface="Muli Light"/>
                  <a:cs typeface="Muli Light"/>
                  <a:sym typeface="Muli Light"/>
                </a:rPr>
                <a:t>GVHD: TS. Nguyễn Thành Sơn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61182"/>
              <a:ext cx="13615255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67" y="663156"/>
            <a:ext cx="6149071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Tính cấp thiết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29025" y="1863806"/>
            <a:ext cx="11926781" cy="110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Thực 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trạng: Tỷ lệ hoàn trả hàng trong ngành thời trang trực tuyến lên tới 30–40% (Theo Vietnam Post Logistics).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9511" y="2098136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444" y="3888526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6938" y="3682064"/>
            <a:ext cx="11927801" cy="111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Nguy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ên nhân cốt lõi: Khách hàng không thể ướm thử trang phục, hệ thống tư vấn size theo bảng tĩnh không cá nhân hóa.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98444" y="5716399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36938" y="5509937"/>
            <a:ext cx="11927801" cy="111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Giả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i pháp: TMF Virtual Fitting Room — phòng thử đồ ảo 3D cá nhân hóa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67" y="663156"/>
            <a:ext cx="6149071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Kiến trúc hệ thống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80610" y="1834467"/>
            <a:ext cx="14078690" cy="605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1"/>
              </a:lnSpc>
            </a:pPr>
          </a:p>
          <a:p>
            <a:pPr algn="l">
              <a:lnSpc>
                <a:spcPts val="5311"/>
              </a:lnSpc>
            </a:pPr>
            <a:r>
              <a:rPr lang="en-US" sz="3794" spc="18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Frontend Layer: Next.js, Tailwind CSS, Zustand, Three.js &amp; React Three Fiber. </a:t>
            </a:r>
          </a:p>
          <a:p>
            <a:pPr algn="l">
              <a:lnSpc>
                <a:spcPts val="5311"/>
              </a:lnSpc>
            </a:pPr>
          </a:p>
          <a:p>
            <a:pPr algn="l">
              <a:lnSpc>
                <a:spcPts val="5311"/>
              </a:lnSpc>
            </a:pPr>
            <a:r>
              <a:rPr lang="en-US" sz="3794" spc="18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Backend Web Layer: HonoJS (Node.js), kết nối MongoDB Atlas (Mongoose ODM). </a:t>
            </a:r>
          </a:p>
          <a:p>
            <a:pPr algn="l">
              <a:lnSpc>
                <a:spcPts val="5311"/>
              </a:lnSpc>
            </a:pPr>
          </a:p>
          <a:p>
            <a:pPr algn="l">
              <a:lnSpc>
                <a:spcPts val="5311"/>
              </a:lnSpc>
            </a:pPr>
            <a:r>
              <a:rPr lang="en-US" sz="3794" spc="18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Python AI Engine (Docker): FastAPI, PyTorch. </a:t>
            </a:r>
          </a:p>
          <a:p>
            <a:pPr algn="l">
              <a:lnSpc>
                <a:spcPts val="531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29025" y="2744070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29025" y="4770852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29025" y="6797634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819" y="1758227"/>
            <a:ext cx="16640361" cy="6770547"/>
          </a:xfrm>
          <a:custGeom>
            <a:avLst/>
            <a:gdLst/>
            <a:ahLst/>
            <a:cxnLst/>
            <a:rect r="r" b="b" t="t" l="l"/>
            <a:pathLst>
              <a:path h="6770547" w="16640361">
                <a:moveTo>
                  <a:pt x="0" y="0"/>
                </a:moveTo>
                <a:lnTo>
                  <a:pt x="16640362" y="0"/>
                </a:lnTo>
                <a:lnTo>
                  <a:pt x="16640362" y="6770546"/>
                </a:lnTo>
                <a:lnTo>
                  <a:pt x="0" y="677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9767" y="663156"/>
            <a:ext cx="6149071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Thiết kế database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52957"/>
            <a:ext cx="4624314" cy="5757499"/>
          </a:xfrm>
          <a:custGeom>
            <a:avLst/>
            <a:gdLst/>
            <a:ahLst/>
            <a:cxnLst/>
            <a:rect r="r" b="b" t="t" l="l"/>
            <a:pathLst>
              <a:path h="5757499" w="4624314">
                <a:moveTo>
                  <a:pt x="0" y="0"/>
                </a:moveTo>
                <a:lnTo>
                  <a:pt x="4624314" y="0"/>
                </a:lnTo>
                <a:lnTo>
                  <a:pt x="4624314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9570" y="1913316"/>
            <a:ext cx="9140345" cy="8062253"/>
          </a:xfrm>
          <a:custGeom>
            <a:avLst/>
            <a:gdLst/>
            <a:ahLst/>
            <a:cxnLst/>
            <a:rect r="r" b="b" t="t" l="l"/>
            <a:pathLst>
              <a:path h="8062253" w="9140345">
                <a:moveTo>
                  <a:pt x="0" y="0"/>
                </a:moveTo>
                <a:lnTo>
                  <a:pt x="9140345" y="0"/>
                </a:lnTo>
                <a:lnTo>
                  <a:pt x="9140345" y="8062254"/>
                </a:lnTo>
                <a:lnTo>
                  <a:pt x="0" y="8062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9767" y="663156"/>
            <a:ext cx="6149071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Phân tích và thiết kế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767" y="1283495"/>
            <a:ext cx="3074536" cy="53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Sơ đồ Use Case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9570" y="1283495"/>
            <a:ext cx="3074536" cy="53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Sơ đồ trình tự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67" y="663156"/>
            <a:ext cx="16526958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Mô hình hóa cơ thể người 3D và quần áo 3D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9767" y="2001641"/>
            <a:ext cx="14198663" cy="610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6"/>
              </a:lnSpc>
            </a:pPr>
          </a:p>
          <a:p>
            <a:pPr algn="l" marL="826111" indent="-413056" lvl="1">
              <a:lnSpc>
                <a:spcPts val="5356"/>
              </a:lnSpc>
              <a:buFont typeface="Arial"/>
              <a:buChar char="•"/>
            </a:pPr>
            <a:r>
              <a:rPr lang="en-US" sz="3826" spc="19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Mô hình thống kê cơ thể chuẩn công nghiệp: SMPL. </a:t>
            </a:r>
          </a:p>
          <a:p>
            <a:pPr algn="l" marL="826111" indent="-413056" lvl="1">
              <a:lnSpc>
                <a:spcPts val="5356"/>
              </a:lnSpc>
              <a:buFont typeface="Arial"/>
              <a:buChar char="•"/>
            </a:pPr>
            <a:r>
              <a:rPr lang="en-US" sz="3826" spc="19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Cấu trúc hình khối: Mesh gồm 6890 đỉnh và 13776 mặt tam giác. </a:t>
            </a:r>
          </a:p>
          <a:p>
            <a:pPr algn="l" marL="826111" indent="-413056" lvl="1">
              <a:lnSpc>
                <a:spcPts val="5356"/>
              </a:lnSpc>
              <a:buFont typeface="Arial"/>
              <a:buChar char="•"/>
            </a:pPr>
            <a:r>
              <a:rPr lang="en-US" sz="3826" spc="19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Cơ chế: Chuyển đổi dữ liệu chiều cao, cân nặng người dùng thành các tham số hình thái (Shape $\beta$ 10 chiều) và tư thế (Pose $\theta$ 72 chiều) nhằm co giãn avatar tự động theo chuẩn giải phẫu sinh học. </a:t>
            </a:r>
          </a:p>
          <a:p>
            <a:pPr algn="l">
              <a:lnSpc>
                <a:spcPts val="535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3852" y="527003"/>
            <a:ext cx="13592104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PIPELINE XỬ LÝ PHÒNG THỬ ĐỒ 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9086" y="1605998"/>
            <a:ext cx="5558716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 User nhập số đo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086" y="2580723"/>
            <a:ext cx="17343518" cy="167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Rule-based Fit Check :</a:t>
            </a:r>
          </a:p>
          <a:p>
            <a:pPr algn="l">
              <a:lnSpc>
                <a:spcPts val="4399"/>
              </a:lnSpc>
            </a:pPr>
            <a:r>
              <a:rPr lang="en-US" sz="399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- </a:t>
            </a:r>
            <a:r>
              <a:rPr lang="en-US" sz="399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Score ≤ -1.75 → BLOCK: chặn hoàn toàn, mở AI chatbox cảnh báo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- </a:t>
            </a: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Score ≤ -1.2 → WARN: vẫn render, hiện cảnh báo nhẹ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086" y="4660348"/>
            <a:ext cx="1734351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Gọi Next.js Proxy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086" y="5807037"/>
            <a:ext cx="8862715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FastAPI AI Engine xử lý (Python)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086" y="6953212"/>
            <a:ext cx="4622006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Three.j</a:t>
            </a: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 Render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086" y="8099387"/>
            <a:ext cx="3385691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AI Advisor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6422" y="3794676"/>
            <a:ext cx="14158575" cy="59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4157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DEMO THỰC TẾ PHÒNG THỬ ĐỒ ẢO TMF 3D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67" y="663156"/>
            <a:ext cx="15800809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ƯU ĐIỂM &amp; HẠN CHẾ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7710" y="1773038"/>
            <a:ext cx="11926781" cy="51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Ưu điểm: 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Kiến trúc phâ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n tầng rõ ràng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Check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i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ng thông minh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Weighted scoring theo loại đồ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Không gian 3D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Render đúng vật lý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AI Advisor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57710" y="5794885"/>
            <a:ext cx="11926781" cy="396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Nhược điểm :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SMPL betas không được chuẩn hóa thực sự từ số đo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TailorNet chỉ hỗ trợ 3 loại đồ : Shirt, T-Shirt, Pant</a:t>
            </a:r>
          </a:p>
          <a:p>
            <a:pPr algn="l" marL="693928" indent="-346964" lvl="1">
              <a:lnSpc>
                <a:spcPts val="4499"/>
              </a:lnSpc>
              <a:buFont typeface="Arial"/>
              <a:buChar char="•"/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OpenAI cost không kiểm soát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04639" y="1916599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9767" y="6411748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9767" y="663156"/>
            <a:ext cx="15800809" cy="66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639" b="true">
                <a:solidFill>
                  <a:srgbClr val="1836B2"/>
                </a:solidFill>
                <a:latin typeface="Muli Bold"/>
                <a:ea typeface="Muli Bold"/>
                <a:cs typeface="Muli Bold"/>
                <a:sym typeface="Muli Bold"/>
              </a:rPr>
              <a:t>HƯỚNG PHÁT TRIỂN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6523" y="1283495"/>
            <a:ext cx="11926781" cy="225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Tích hợp các cổng thanh toán online trực tiếp (VNPay, MoMo). 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86523" y="2506641"/>
            <a:ext cx="11926781" cy="33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Nghiên</a:t>
            </a: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 cứu ứng dụng mạng sinh GAN/Diffusion nâng cao để tự động chuyển hình ảnh trang phục 2D từ nhà cung cấp thành file Mesh 3D phủ vải hoàn chỉnh.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937184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163866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6523" y="3913556"/>
            <a:ext cx="11926781" cy="339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499"/>
              </a:lnSpc>
            </a:pPr>
            <a:r>
              <a:rPr lang="en-US" sz="3214" spc="16">
                <a:solidFill>
                  <a:srgbClr val="000000"/>
                </a:solidFill>
                <a:latin typeface="Muli Light"/>
                <a:ea typeface="Muli Light"/>
                <a:cs typeface="Muli Light"/>
                <a:sym typeface="Muli Light"/>
              </a:rPr>
              <a:t>Xây dựng phân hệ quản lý kho nâng cao: Tích hợp tính năng tự động báo cáo sản phẩm sắp hết hàng và đề xuất nhập hàng dựa trên dữ liệu báo cáo thống kê.</a:t>
            </a:r>
          </a:p>
          <a:p>
            <a:pPr algn="l">
              <a:lnSpc>
                <a:spcPts val="44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5143500"/>
            <a:ext cx="545276" cy="617082"/>
          </a:xfrm>
          <a:custGeom>
            <a:avLst/>
            <a:gdLst/>
            <a:ahLst/>
            <a:cxnLst/>
            <a:rect r="r" b="b" t="t" l="l"/>
            <a:pathLst>
              <a:path h="617082" w="545276">
                <a:moveTo>
                  <a:pt x="0" y="0"/>
                </a:moveTo>
                <a:lnTo>
                  <a:pt x="545276" y="0"/>
                </a:lnTo>
                <a:lnTo>
                  <a:pt x="545276" y="617082"/>
                </a:lnTo>
                <a:lnTo>
                  <a:pt x="0" y="61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6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5960" y="832258"/>
            <a:ext cx="1281063" cy="731445"/>
          </a:xfrm>
          <a:custGeom>
            <a:avLst/>
            <a:gdLst/>
            <a:ahLst/>
            <a:cxnLst/>
            <a:rect r="r" b="b" t="t" l="l"/>
            <a:pathLst>
              <a:path h="731445" w="1281063">
                <a:moveTo>
                  <a:pt x="0" y="0"/>
                </a:moveTo>
                <a:lnTo>
                  <a:pt x="1281063" y="0"/>
                </a:lnTo>
                <a:lnTo>
                  <a:pt x="1281063" y="731445"/>
                </a:lnTo>
                <a:lnTo>
                  <a:pt x="0" y="731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7306" y="3025691"/>
            <a:ext cx="9785388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CẢM ƠN THẦY CÔ ĐÃ LẮNG NGHE 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9411634" y="9210343"/>
            <a:ext cx="8610163" cy="0"/>
          </a:xfrm>
          <a:prstGeom prst="line">
            <a:avLst/>
          </a:prstGeom>
          <a:ln cap="rnd" w="28575">
            <a:solidFill>
              <a:srgbClr val="86C7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DAHN2EzoU6I</dc:identifier>
  <dcterms:modified xsi:type="dcterms:W3CDTF">2011-08-01T06:04:30Z</dcterms:modified>
  <cp:revision>1</cp:revision>
  <dc:title>Bản thuyết trình trình bày ý tưởng Phát triển ứng dụng Khởi nghiệp, Tông màu Xanh dương và Tím, Phong cách Doanh nghiệp</dc:title>
</cp:coreProperties>
</file>